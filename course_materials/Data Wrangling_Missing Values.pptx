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407" r:id="rId2"/>
    <p:sldId id="421" r:id="rId3"/>
    <p:sldId id="422" r:id="rId4"/>
    <p:sldId id="423" r:id="rId5"/>
    <p:sldId id="424" r:id="rId6"/>
  </p:sldIdLst>
  <p:sldSz cx="20105688" cy="11309350"/>
  <p:notesSz cx="20104100" cy="113093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40" autoAdjust="0"/>
    <p:restoredTop sz="94660"/>
  </p:normalViewPr>
  <p:slideViewPr>
    <p:cSldViewPr>
      <p:cViewPr varScale="1">
        <p:scale>
          <a:sx n="43" d="100"/>
          <a:sy n="43" d="100"/>
        </p:scale>
        <p:origin x="546" y="4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120176" y="1478185"/>
            <a:ext cx="13865333" cy="2477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100" b="0" i="0">
                <a:solidFill>
                  <a:srgbClr val="A6AAA9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480187" y="8081285"/>
            <a:ext cx="13145312" cy="13696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8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C0C0C0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220"/>
              </a:lnSpc>
            </a:pPr>
            <a:r>
              <a:rPr lang="en-US" smtClean="0"/>
              <a:t>©</a:t>
            </a:r>
            <a:r>
              <a:rPr lang="en-US" spc="-10" smtClean="0"/>
              <a:t> </a:t>
            </a:r>
            <a:r>
              <a:rPr lang="en-US" smtClean="0"/>
              <a:t>2014</a:t>
            </a:r>
            <a:r>
              <a:rPr lang="en-US" spc="-5" smtClean="0"/>
              <a:t> </a:t>
            </a:r>
            <a:r>
              <a:rPr lang="en-US" smtClean="0"/>
              <a:t>RStudio,</a:t>
            </a:r>
            <a:r>
              <a:rPr lang="en-US" spc="-5" smtClean="0"/>
              <a:t> </a:t>
            </a:r>
            <a:r>
              <a:rPr lang="en-US" smtClean="0"/>
              <a:t>Inc.</a:t>
            </a:r>
            <a:r>
              <a:rPr lang="en-US" spc="-70" smtClean="0"/>
              <a:t> </a:t>
            </a:r>
            <a:r>
              <a:rPr lang="en-US" smtClean="0"/>
              <a:t>All</a:t>
            </a:r>
            <a:r>
              <a:rPr lang="en-US" spc="-5" smtClean="0"/>
              <a:t> </a:t>
            </a:r>
            <a:r>
              <a:rPr lang="en-US" smtClean="0"/>
              <a:t>rights</a:t>
            </a:r>
            <a:r>
              <a:rPr lang="en-US" spc="-5" smtClean="0"/>
              <a:t> </a:t>
            </a:r>
            <a:r>
              <a:rPr lang="en-US" smtClean="0"/>
              <a:t>reserved.</a:t>
            </a:r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12/14/2021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 u="heavy">
                <a:solidFill>
                  <a:srgbClr val="53585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56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C0C0C0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220"/>
              </a:lnSpc>
            </a:pPr>
            <a:r>
              <a:rPr lang="en-US" smtClean="0"/>
              <a:t>©</a:t>
            </a:r>
            <a:r>
              <a:rPr lang="en-US" spc="-10" smtClean="0"/>
              <a:t> </a:t>
            </a:r>
            <a:r>
              <a:rPr lang="en-US" smtClean="0"/>
              <a:t>2014</a:t>
            </a:r>
            <a:r>
              <a:rPr lang="en-US" spc="-5" smtClean="0"/>
              <a:t> </a:t>
            </a:r>
            <a:r>
              <a:rPr lang="en-US" smtClean="0"/>
              <a:t>RStudio,</a:t>
            </a:r>
            <a:r>
              <a:rPr lang="en-US" spc="-5" smtClean="0"/>
              <a:t> </a:t>
            </a:r>
            <a:r>
              <a:rPr lang="en-US" smtClean="0"/>
              <a:t>Inc.</a:t>
            </a:r>
            <a:r>
              <a:rPr lang="en-US" spc="-70" smtClean="0"/>
              <a:t> </a:t>
            </a:r>
            <a:r>
              <a:rPr lang="en-US" smtClean="0"/>
              <a:t>All</a:t>
            </a:r>
            <a:r>
              <a:rPr lang="en-US" spc="-5" smtClean="0"/>
              <a:t> </a:t>
            </a:r>
            <a:r>
              <a:rPr lang="en-US" smtClean="0"/>
              <a:t>rights</a:t>
            </a:r>
            <a:r>
              <a:rPr lang="en-US" spc="-5" smtClean="0"/>
              <a:t> </a:t>
            </a:r>
            <a:r>
              <a:rPr lang="en-US" smtClean="0"/>
              <a:t>reserved.</a:t>
            </a:r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12/14/2021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 u="heavy">
                <a:solidFill>
                  <a:srgbClr val="53585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84" y="2601151"/>
            <a:ext cx="8745975" cy="8694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4429" y="2601151"/>
            <a:ext cx="8745975" cy="8694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C0C0C0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220"/>
              </a:lnSpc>
            </a:pPr>
            <a:r>
              <a:rPr lang="en-US" smtClean="0"/>
              <a:t>©</a:t>
            </a:r>
            <a:r>
              <a:rPr lang="en-US" spc="-10" smtClean="0"/>
              <a:t> </a:t>
            </a:r>
            <a:r>
              <a:rPr lang="en-US" smtClean="0"/>
              <a:t>2014</a:t>
            </a:r>
            <a:r>
              <a:rPr lang="en-US" spc="-5" smtClean="0"/>
              <a:t> </a:t>
            </a:r>
            <a:r>
              <a:rPr lang="en-US" smtClean="0"/>
              <a:t>RStudio,</a:t>
            </a:r>
            <a:r>
              <a:rPr lang="en-US" spc="-5" smtClean="0"/>
              <a:t> </a:t>
            </a:r>
            <a:r>
              <a:rPr lang="en-US" smtClean="0"/>
              <a:t>Inc.</a:t>
            </a:r>
            <a:r>
              <a:rPr lang="en-US" spc="-70" smtClean="0"/>
              <a:t> </a:t>
            </a:r>
            <a:r>
              <a:rPr lang="en-US" smtClean="0"/>
              <a:t>All</a:t>
            </a:r>
            <a:r>
              <a:rPr lang="en-US" spc="-5" smtClean="0"/>
              <a:t> </a:t>
            </a:r>
            <a:r>
              <a:rPr lang="en-US" smtClean="0"/>
              <a:t>rights</a:t>
            </a:r>
            <a:r>
              <a:rPr lang="en-US" spc="-5" smtClean="0"/>
              <a:t> </a:t>
            </a:r>
            <a:r>
              <a:rPr lang="en-US" smtClean="0"/>
              <a:t>reserved.</a:t>
            </a:r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12/14/2021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"/>
            <a:ext cx="20105688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 u="heavy">
                <a:solidFill>
                  <a:srgbClr val="53585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C0C0C0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220"/>
              </a:lnSpc>
            </a:pPr>
            <a:r>
              <a:rPr lang="en-US" smtClean="0"/>
              <a:t>©</a:t>
            </a:r>
            <a:r>
              <a:rPr lang="en-US" spc="-10" smtClean="0"/>
              <a:t> </a:t>
            </a:r>
            <a:r>
              <a:rPr lang="en-US" smtClean="0"/>
              <a:t>2014</a:t>
            </a:r>
            <a:r>
              <a:rPr lang="en-US" spc="-5" smtClean="0"/>
              <a:t> </a:t>
            </a:r>
            <a:r>
              <a:rPr lang="en-US" smtClean="0"/>
              <a:t>RStudio,</a:t>
            </a:r>
            <a:r>
              <a:rPr lang="en-US" spc="-5" smtClean="0"/>
              <a:t> </a:t>
            </a:r>
            <a:r>
              <a:rPr lang="en-US" smtClean="0"/>
              <a:t>Inc.</a:t>
            </a:r>
            <a:r>
              <a:rPr lang="en-US" spc="-70" smtClean="0"/>
              <a:t> </a:t>
            </a:r>
            <a:r>
              <a:rPr lang="en-US" smtClean="0"/>
              <a:t>All</a:t>
            </a:r>
            <a:r>
              <a:rPr lang="en-US" spc="-5" smtClean="0"/>
              <a:t> </a:t>
            </a:r>
            <a:r>
              <a:rPr lang="en-US" smtClean="0"/>
              <a:t>rights</a:t>
            </a:r>
            <a:r>
              <a:rPr lang="en-US" spc="-5" smtClean="0"/>
              <a:t> </a:t>
            </a:r>
            <a:r>
              <a:rPr lang="en-US" smtClean="0"/>
              <a:t>reserved.</a:t>
            </a:r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12/14/2021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C0C0C0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220"/>
              </a:lnSpc>
            </a:pPr>
            <a:r>
              <a:rPr lang="en-US" smtClean="0"/>
              <a:t>©</a:t>
            </a:r>
            <a:r>
              <a:rPr lang="en-US" spc="-10" smtClean="0"/>
              <a:t> </a:t>
            </a:r>
            <a:r>
              <a:rPr lang="en-US" smtClean="0"/>
              <a:t>2014</a:t>
            </a:r>
            <a:r>
              <a:rPr lang="en-US" spc="-5" smtClean="0"/>
              <a:t> </a:t>
            </a:r>
            <a:r>
              <a:rPr lang="en-US" smtClean="0"/>
              <a:t>RStudio,</a:t>
            </a:r>
            <a:r>
              <a:rPr lang="en-US" spc="-5" smtClean="0"/>
              <a:t> </a:t>
            </a:r>
            <a:r>
              <a:rPr lang="en-US" smtClean="0"/>
              <a:t>Inc.</a:t>
            </a:r>
            <a:r>
              <a:rPr lang="en-US" spc="-70" smtClean="0"/>
              <a:t> </a:t>
            </a:r>
            <a:r>
              <a:rPr lang="en-US" smtClean="0"/>
              <a:t>All</a:t>
            </a:r>
            <a:r>
              <a:rPr lang="en-US" spc="-5" smtClean="0"/>
              <a:t> </a:t>
            </a:r>
            <a:r>
              <a:rPr lang="en-US" smtClean="0"/>
              <a:t>rights</a:t>
            </a:r>
            <a:r>
              <a:rPr lang="en-US" spc="-5" smtClean="0"/>
              <a:t> </a:t>
            </a:r>
            <a:r>
              <a:rPr lang="en-US" smtClean="0"/>
              <a:t>reserved.</a:t>
            </a:r>
            <a:endParaRPr lang="en-US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12/14/2021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2343" y="17603"/>
            <a:ext cx="19561002" cy="6788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50" b="0" i="0" u="heavy">
                <a:solidFill>
                  <a:srgbClr val="53585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36181" y="3587775"/>
            <a:ext cx="13806625" cy="8694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6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4796593" y="11010034"/>
            <a:ext cx="2627202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50" b="0" i="0">
                <a:solidFill>
                  <a:srgbClr val="C0C0C0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220"/>
              </a:lnSpc>
            </a:pPr>
            <a:r>
              <a:rPr lang="en-US" smtClean="0"/>
              <a:t>©</a:t>
            </a:r>
            <a:r>
              <a:rPr lang="en-US" spc="-10" smtClean="0"/>
              <a:t> </a:t>
            </a:r>
            <a:r>
              <a:rPr lang="en-US" smtClean="0"/>
              <a:t>2014</a:t>
            </a:r>
            <a:r>
              <a:rPr lang="en-US" spc="-5" smtClean="0"/>
              <a:t> </a:t>
            </a:r>
            <a:r>
              <a:rPr lang="en-US" smtClean="0"/>
              <a:t>RStudio,</a:t>
            </a:r>
            <a:r>
              <a:rPr lang="en-US" spc="-5" smtClean="0"/>
              <a:t> </a:t>
            </a:r>
            <a:r>
              <a:rPr lang="en-US" smtClean="0"/>
              <a:t>Inc.</a:t>
            </a:r>
            <a:r>
              <a:rPr lang="en-US" spc="-70" smtClean="0"/>
              <a:t> </a:t>
            </a:r>
            <a:r>
              <a:rPr lang="en-US" smtClean="0"/>
              <a:t>All</a:t>
            </a:r>
            <a:r>
              <a:rPr lang="en-US" spc="-5" smtClean="0"/>
              <a:t> </a:t>
            </a:r>
            <a:r>
              <a:rPr lang="en-US" smtClean="0"/>
              <a:t>rights</a:t>
            </a:r>
            <a:r>
              <a:rPr lang="en-US" spc="-5" smtClean="0"/>
              <a:t> </a:t>
            </a:r>
            <a:r>
              <a:rPr lang="en-US" smtClean="0"/>
              <a:t>reserved.</a:t>
            </a:r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85" y="10517697"/>
            <a:ext cx="462430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12/14/2021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6097" y="10517697"/>
            <a:ext cx="462430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0CECFC2-E5AC-481C-B61B-72E2C2928C75}"/>
              </a:ext>
            </a:extLst>
          </p:cNvPr>
          <p:cNvSpPr txBox="1">
            <a:spLocks/>
          </p:cNvSpPr>
          <p:nvPr/>
        </p:nvSpPr>
        <p:spPr>
          <a:xfrm>
            <a:off x="2509044" y="2931358"/>
            <a:ext cx="15079266" cy="424731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>
              <a:defRPr sz="4250" b="0" i="0" u="heavy">
                <a:solidFill>
                  <a:srgbClr val="53585F"/>
                </a:solidFill>
                <a:latin typeface="Arial MT"/>
                <a:ea typeface="+mj-ea"/>
                <a:cs typeface="Arial MT"/>
              </a:defRPr>
            </a:lvl1pPr>
          </a:lstStyle>
          <a:p>
            <a:pPr algn="ctr"/>
            <a:r>
              <a:rPr lang="en-US" sz="13800" u="none" kern="0" dirty="0" smtClean="0">
                <a:solidFill>
                  <a:srgbClr val="0070C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Data Wrangling Using R</a:t>
            </a:r>
            <a:endParaRPr lang="en-US" sz="13800" u="none" kern="0" dirty="0">
              <a:solidFill>
                <a:srgbClr val="0070C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505492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56444" y="168275"/>
            <a:ext cx="18592800" cy="9856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7650" spc="100" dirty="0">
                <a:solidFill>
                  <a:srgbClr val="000000"/>
                </a:solidFill>
                <a:latin typeface="Arial MT"/>
                <a:ea typeface="+mj-ea"/>
                <a:cs typeface="Arial MT"/>
              </a:rPr>
              <a:t>Dealing with Missing </a:t>
            </a:r>
            <a:r>
              <a:rPr lang="en-US" sz="7650" spc="100" dirty="0" smtClean="0">
                <a:solidFill>
                  <a:srgbClr val="000000"/>
                </a:solidFill>
                <a:latin typeface="Arial MT"/>
                <a:ea typeface="+mj-ea"/>
                <a:cs typeface="Arial MT"/>
              </a:rPr>
              <a:t>Values</a:t>
            </a: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altLang="en-US" sz="4950" spc="50" dirty="0">
                <a:latin typeface="Arial MT"/>
                <a:cs typeface="Arial MT"/>
              </a:rPr>
              <a:t>A common task in data analysis is </a:t>
            </a:r>
            <a:r>
              <a:rPr lang="en-US" altLang="en-US" sz="4950" spc="50" dirty="0">
                <a:solidFill>
                  <a:srgbClr val="FF0000"/>
                </a:solidFill>
                <a:latin typeface="Arial MT"/>
                <a:cs typeface="Arial MT"/>
              </a:rPr>
              <a:t>dealing with missing values</a:t>
            </a:r>
            <a:r>
              <a:rPr lang="en-US" altLang="en-US" sz="4950" spc="50" dirty="0">
                <a:latin typeface="Arial MT"/>
                <a:cs typeface="Arial MT"/>
              </a:rPr>
              <a:t>. In R, missing values are often represented by </a:t>
            </a:r>
            <a:r>
              <a:rPr lang="en-US" altLang="en-US" sz="4950" spc="50" dirty="0">
                <a:solidFill>
                  <a:srgbClr val="0000FF"/>
                </a:solidFill>
                <a:latin typeface="Arial MT"/>
                <a:cs typeface="Arial MT"/>
              </a:rPr>
              <a:t>NA</a:t>
            </a:r>
            <a:r>
              <a:rPr lang="en-US" altLang="en-US" sz="4950" spc="50" dirty="0">
                <a:latin typeface="Arial MT"/>
                <a:cs typeface="Arial MT"/>
              </a:rPr>
              <a:t> or some other value that represents missing values (i.e. </a:t>
            </a:r>
            <a:r>
              <a:rPr lang="en-US" altLang="en-US" sz="4950" spc="50" dirty="0">
                <a:solidFill>
                  <a:srgbClr val="FF0000"/>
                </a:solidFill>
                <a:latin typeface="Arial MT"/>
                <a:cs typeface="Arial MT"/>
              </a:rPr>
              <a:t>99</a:t>
            </a:r>
            <a:r>
              <a:rPr lang="en-US" altLang="en-US" sz="4950" spc="50" dirty="0">
                <a:latin typeface="Arial MT"/>
                <a:cs typeface="Arial MT"/>
              </a:rPr>
              <a:t>). </a:t>
            </a:r>
            <a:endParaRPr lang="en-US" altLang="en-US" sz="4950" spc="50" dirty="0" smtClean="0">
              <a:latin typeface="Arial MT"/>
              <a:cs typeface="Arial MT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4950" spc="50" dirty="0">
                <a:latin typeface="Arial MT"/>
                <a:cs typeface="Arial MT"/>
              </a:rPr>
              <a:t>	</a:t>
            </a:r>
            <a:r>
              <a:rPr lang="en-US" altLang="en-US" sz="4950" spc="50" dirty="0" smtClean="0">
                <a:latin typeface="Arial MT"/>
                <a:cs typeface="Arial MT"/>
              </a:rPr>
              <a:t>We </a:t>
            </a:r>
            <a:r>
              <a:rPr lang="en-US" altLang="en-US" sz="4950" spc="50" dirty="0">
                <a:latin typeface="Arial MT"/>
                <a:cs typeface="Arial MT"/>
              </a:rPr>
              <a:t>can easily work with missing values and in this section you will learn how to</a:t>
            </a:r>
            <a:r>
              <a:rPr lang="en-US" altLang="en-US" sz="4950" spc="50" dirty="0" smtClean="0">
                <a:latin typeface="Arial MT"/>
                <a:cs typeface="Arial MT"/>
              </a:rPr>
              <a:t>:</a:t>
            </a:r>
            <a:endParaRPr lang="en-US" sz="4950" spc="50" dirty="0">
              <a:latin typeface="Arial MT"/>
              <a:cs typeface="Arial MT"/>
            </a:endParaRPr>
          </a:p>
          <a:p>
            <a:pPr marL="2297113" indent="-468313">
              <a:buFont typeface="Arial" panose="020B0604020202020204" pitchFamily="34" charset="0"/>
              <a:buChar char="•"/>
            </a:pPr>
            <a:r>
              <a:rPr lang="en-US" sz="4950" b="1" spc="5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for missing values</a:t>
            </a:r>
          </a:p>
          <a:p>
            <a:pPr marL="2297113" indent="-468313">
              <a:buFont typeface="Arial" panose="020B0604020202020204" pitchFamily="34" charset="0"/>
              <a:buChar char="•"/>
            </a:pPr>
            <a:r>
              <a:rPr lang="en-US" sz="4950" b="1" spc="5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Recode missing values</a:t>
            </a:r>
          </a:p>
          <a:p>
            <a:pPr marL="2297113" indent="-468313">
              <a:buFont typeface="Arial" panose="020B0604020202020204" pitchFamily="34" charset="0"/>
              <a:buChar char="•"/>
            </a:pPr>
            <a:r>
              <a:rPr lang="en-US" sz="4950" b="1" spc="5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Exclude missing </a:t>
            </a:r>
            <a:r>
              <a:rPr lang="en-US" sz="4950" b="1" spc="5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319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56444" y="625475"/>
            <a:ext cx="18211800" cy="9821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371600" indent="-1371600" algn="just">
              <a:lnSpc>
                <a:spcPct val="150000"/>
              </a:lnSpc>
              <a:buFont typeface="+mj-lt"/>
              <a:buAutoNum type="arabicPeriod"/>
            </a:pPr>
            <a:r>
              <a:rPr lang="en-US" sz="7650" spc="100" dirty="0">
                <a:solidFill>
                  <a:srgbClr val="0000FF"/>
                </a:solidFill>
                <a:latin typeface="Arial MT"/>
                <a:ea typeface="+mj-ea"/>
                <a:cs typeface="Arial MT"/>
              </a:rPr>
              <a:t>Test </a:t>
            </a:r>
            <a:r>
              <a:rPr lang="en-US" sz="7650" spc="100" dirty="0">
                <a:solidFill>
                  <a:srgbClr val="0000FF"/>
                </a:solidFill>
                <a:latin typeface="Arial MT"/>
                <a:ea typeface="+mj-ea"/>
                <a:cs typeface="Arial MT"/>
              </a:rPr>
              <a:t>for missing values</a:t>
            </a:r>
          </a:p>
          <a:p>
            <a:pPr algn="just">
              <a:lnSpc>
                <a:spcPct val="150000"/>
              </a:lnSpc>
            </a:pPr>
            <a:endParaRPr lang="en-US" sz="2400" dirty="0" smtClean="0"/>
          </a:p>
          <a:p>
            <a:pPr algn="just">
              <a:lnSpc>
                <a:spcPct val="150000"/>
              </a:lnSpc>
            </a:pPr>
            <a:r>
              <a:rPr lang="en-US" altLang="en-US" sz="4950" spc="50" dirty="0">
                <a:latin typeface="Arial MT"/>
                <a:cs typeface="Arial MT"/>
              </a:rPr>
              <a:t>It might happen that your dataset is not complete and when information is not available we call it missing values. </a:t>
            </a:r>
            <a:endParaRPr lang="en-US" sz="2400" dirty="0"/>
          </a:p>
          <a:p>
            <a:pPr algn="just">
              <a:lnSpc>
                <a:spcPct val="150000"/>
              </a:lnSpc>
            </a:pPr>
            <a:r>
              <a:rPr lang="en-US" altLang="en-US" sz="4950" spc="50" dirty="0" smtClean="0">
                <a:latin typeface="Arial MT"/>
                <a:cs typeface="Arial MT"/>
              </a:rPr>
              <a:t>To </a:t>
            </a:r>
            <a:r>
              <a:rPr lang="en-US" altLang="en-US" sz="4950" spc="50" dirty="0">
                <a:latin typeface="Arial MT"/>
                <a:cs typeface="Arial MT"/>
              </a:rPr>
              <a:t>identify missing values use </a:t>
            </a:r>
            <a:r>
              <a:rPr lang="en-US" altLang="en-US" sz="4950" spc="50" dirty="0">
                <a:solidFill>
                  <a:srgbClr val="0000FF"/>
                </a:solidFill>
                <a:latin typeface="Arial MT"/>
                <a:cs typeface="Arial MT"/>
              </a:rPr>
              <a:t>is.na()</a:t>
            </a:r>
            <a:r>
              <a:rPr lang="en-US" altLang="en-US" sz="4950" spc="50" dirty="0">
                <a:latin typeface="Arial MT"/>
                <a:cs typeface="Arial MT"/>
              </a:rPr>
              <a:t> which returns a logical vector with </a:t>
            </a:r>
            <a:r>
              <a:rPr lang="en-US" altLang="en-US" sz="4950" spc="50" dirty="0">
                <a:solidFill>
                  <a:srgbClr val="0000FF"/>
                </a:solidFill>
                <a:latin typeface="Arial MT"/>
                <a:cs typeface="Arial MT"/>
              </a:rPr>
              <a:t>TRUE</a:t>
            </a:r>
            <a:r>
              <a:rPr lang="en-US" altLang="en-US" sz="4950" spc="50" dirty="0">
                <a:latin typeface="Arial MT"/>
                <a:cs typeface="Arial MT"/>
              </a:rPr>
              <a:t> in the element locations that contain missing values represented by </a:t>
            </a:r>
            <a:r>
              <a:rPr lang="en-US" altLang="en-US" sz="4950" spc="50" dirty="0">
                <a:solidFill>
                  <a:srgbClr val="FF0000"/>
                </a:solidFill>
                <a:latin typeface="Arial MT"/>
                <a:cs typeface="Arial MT"/>
              </a:rPr>
              <a:t>NA</a:t>
            </a:r>
            <a:r>
              <a:rPr lang="en-US" altLang="en-US" sz="4950" spc="50" dirty="0">
                <a:latin typeface="Arial MT"/>
                <a:cs typeface="Arial MT"/>
              </a:rPr>
              <a:t>. </a:t>
            </a:r>
            <a:endParaRPr lang="en-US" altLang="en-US" sz="4950" spc="50" dirty="0" smtClean="0">
              <a:latin typeface="Arial MT"/>
              <a:cs typeface="Arial MT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4950" spc="50" dirty="0" smtClean="0">
                <a:solidFill>
                  <a:srgbClr val="0000FF"/>
                </a:solidFill>
                <a:latin typeface="Arial MT"/>
                <a:cs typeface="Arial MT"/>
              </a:rPr>
              <a:t>is.na</a:t>
            </a:r>
            <a:r>
              <a:rPr lang="en-US" altLang="en-US" sz="4950" spc="50" dirty="0">
                <a:solidFill>
                  <a:srgbClr val="0000FF"/>
                </a:solidFill>
                <a:latin typeface="Arial MT"/>
                <a:cs typeface="Arial MT"/>
              </a:rPr>
              <a:t>()</a:t>
            </a:r>
            <a:r>
              <a:rPr lang="en-US" altLang="en-US" sz="4950" spc="50" dirty="0">
                <a:latin typeface="Arial MT"/>
                <a:cs typeface="Arial MT"/>
              </a:rPr>
              <a:t> will work on vectors, lists, matrices, and data frames. </a:t>
            </a:r>
            <a:endParaRPr lang="en-US" sz="2400" dirty="0" smtClean="0"/>
          </a:p>
          <a:p>
            <a:pPr algn="just">
              <a:lnSpc>
                <a:spcPct val="15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2046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56444" y="625475"/>
            <a:ext cx="18211800" cy="383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371600" indent="-1371600">
              <a:buFont typeface="+mj-lt"/>
              <a:buAutoNum type="arabicPeriod" startAt="2"/>
            </a:pPr>
            <a:r>
              <a:rPr lang="en-US" sz="7650" spc="100" dirty="0" smtClean="0">
                <a:solidFill>
                  <a:srgbClr val="0000FF"/>
                </a:solidFill>
                <a:latin typeface="Arial MT"/>
                <a:ea typeface="+mj-ea"/>
                <a:cs typeface="Arial MT"/>
              </a:rPr>
              <a:t>Recode </a:t>
            </a:r>
            <a:r>
              <a:rPr lang="en-US" sz="7650" spc="100" dirty="0">
                <a:solidFill>
                  <a:srgbClr val="0000FF"/>
                </a:solidFill>
                <a:latin typeface="Arial MT"/>
                <a:ea typeface="+mj-ea"/>
                <a:cs typeface="Arial MT"/>
              </a:rPr>
              <a:t>Missing Values</a:t>
            </a:r>
          </a:p>
          <a:p>
            <a:endParaRPr lang="en-US" dirty="0"/>
          </a:p>
          <a:p>
            <a:r>
              <a:rPr lang="en-US" sz="4950" spc="50" dirty="0">
                <a:latin typeface="Arial MT"/>
                <a:cs typeface="Arial MT"/>
              </a:rPr>
              <a:t>To recode missing values; or recode specific indicators that represent missing values, we can use normal </a:t>
            </a:r>
            <a:r>
              <a:rPr lang="en-US" sz="4950" spc="50" dirty="0" err="1">
                <a:latin typeface="Arial MT"/>
                <a:cs typeface="Arial MT"/>
              </a:rPr>
              <a:t>subsetting</a:t>
            </a:r>
            <a:r>
              <a:rPr lang="en-US" sz="4950" spc="50" dirty="0">
                <a:latin typeface="Arial MT"/>
                <a:cs typeface="Arial MT"/>
              </a:rPr>
              <a:t> and assignment operations</a:t>
            </a:r>
            <a:r>
              <a:rPr lang="en-US" sz="4950" spc="50" dirty="0" smtClean="0">
                <a:latin typeface="Arial MT"/>
                <a:cs typeface="Arial MT"/>
              </a:rPr>
              <a:t>.</a:t>
            </a:r>
            <a:endParaRPr lang="en-US" sz="4950" spc="5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31723093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56444" y="625475"/>
            <a:ext cx="18821400" cy="9614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371600" indent="-1371600" algn="just">
              <a:buFont typeface="+mj-lt"/>
              <a:buAutoNum type="arabicPeriod" startAt="3"/>
            </a:pPr>
            <a:r>
              <a:rPr lang="en-US" sz="7650" spc="100" dirty="0" smtClean="0">
                <a:solidFill>
                  <a:srgbClr val="0000FF"/>
                </a:solidFill>
                <a:latin typeface="Arial MT"/>
                <a:ea typeface="+mj-ea"/>
                <a:cs typeface="Arial MT"/>
              </a:rPr>
              <a:t>Exclude </a:t>
            </a:r>
            <a:r>
              <a:rPr lang="en-US" sz="7650" spc="100" dirty="0">
                <a:solidFill>
                  <a:srgbClr val="0000FF"/>
                </a:solidFill>
                <a:latin typeface="Arial MT"/>
                <a:ea typeface="+mj-ea"/>
                <a:cs typeface="Arial MT"/>
              </a:rPr>
              <a:t>missing values</a:t>
            </a:r>
          </a:p>
          <a:p>
            <a:pPr algn="just"/>
            <a:endParaRPr lang="en-US" dirty="0" smtClean="0"/>
          </a:p>
          <a:p>
            <a:pPr algn="just"/>
            <a:endParaRPr lang="en-US" dirty="0"/>
          </a:p>
          <a:p>
            <a:pPr algn="just">
              <a:lnSpc>
                <a:spcPct val="125000"/>
              </a:lnSpc>
            </a:pPr>
            <a:r>
              <a:rPr lang="en-US" sz="4500" spc="50" dirty="0" smtClean="0">
                <a:latin typeface="Arial MT"/>
                <a:cs typeface="Arial MT"/>
              </a:rPr>
              <a:t>Another </a:t>
            </a:r>
            <a:r>
              <a:rPr lang="en-US" sz="4500" spc="50" dirty="0">
                <a:latin typeface="Arial MT"/>
                <a:cs typeface="Arial MT"/>
              </a:rPr>
              <a:t>useful function in R to deal with missing values is </a:t>
            </a:r>
            <a:r>
              <a:rPr lang="en-US" sz="4500" spc="50" dirty="0" err="1">
                <a:solidFill>
                  <a:srgbClr val="0000FF"/>
                </a:solidFill>
                <a:latin typeface="Arial MT"/>
                <a:cs typeface="Arial MT"/>
              </a:rPr>
              <a:t>na.omit</a:t>
            </a:r>
            <a:r>
              <a:rPr lang="en-US" sz="4500" spc="50" dirty="0" smtClean="0">
                <a:solidFill>
                  <a:srgbClr val="0000FF"/>
                </a:solidFill>
                <a:latin typeface="Arial MT"/>
                <a:cs typeface="Arial MT"/>
              </a:rPr>
              <a:t>()</a:t>
            </a:r>
            <a:r>
              <a:rPr lang="en-US" sz="4500" spc="50" dirty="0" smtClean="0">
                <a:latin typeface="Arial MT"/>
                <a:cs typeface="Arial MT"/>
              </a:rPr>
              <a:t>, </a:t>
            </a:r>
            <a:r>
              <a:rPr lang="en-US" sz="4500" dirty="0" smtClean="0"/>
              <a:t> </a:t>
            </a:r>
            <a:r>
              <a:rPr lang="en-US" sz="4500" spc="50" dirty="0">
                <a:latin typeface="Arial MT"/>
                <a:cs typeface="Arial MT"/>
              </a:rPr>
              <a:t>which delete incomplete observations.</a:t>
            </a:r>
          </a:p>
          <a:p>
            <a:pPr algn="just">
              <a:lnSpc>
                <a:spcPct val="125000"/>
              </a:lnSpc>
            </a:pPr>
            <a:r>
              <a:rPr lang="en-US" sz="4500" spc="50" dirty="0" smtClean="0">
                <a:latin typeface="Arial MT"/>
                <a:cs typeface="Arial MT"/>
              </a:rPr>
              <a:t>The </a:t>
            </a:r>
            <a:r>
              <a:rPr lang="en-US" sz="4500" spc="50" dirty="0">
                <a:latin typeface="Arial MT"/>
                <a:cs typeface="Arial MT"/>
              </a:rPr>
              <a:t>possible </a:t>
            </a:r>
            <a:r>
              <a:rPr lang="en-US" sz="4500" spc="50" dirty="0" err="1">
                <a:solidFill>
                  <a:srgbClr val="0000FF"/>
                </a:solidFill>
                <a:latin typeface="Arial MT"/>
                <a:cs typeface="Arial MT"/>
              </a:rPr>
              <a:t>na.action</a:t>
            </a:r>
            <a:r>
              <a:rPr lang="en-US" sz="4500" spc="50" dirty="0">
                <a:latin typeface="Arial MT"/>
                <a:cs typeface="Arial MT"/>
              </a:rPr>
              <a:t> settings within R include:</a:t>
            </a:r>
          </a:p>
          <a:p>
            <a:pPr marL="1382713" indent="-685800" algn="just">
              <a:lnSpc>
                <a:spcPct val="125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4500" spc="50" dirty="0" err="1" smtClean="0">
                <a:solidFill>
                  <a:srgbClr val="0000FF"/>
                </a:solidFill>
                <a:latin typeface="Arial MT"/>
                <a:cs typeface="Arial MT"/>
              </a:rPr>
              <a:t>na.omit</a:t>
            </a:r>
            <a:r>
              <a:rPr lang="en-US" sz="4500" spc="50" dirty="0" smtClean="0">
                <a:latin typeface="Arial MT"/>
                <a:cs typeface="Arial MT"/>
              </a:rPr>
              <a:t> </a:t>
            </a:r>
            <a:r>
              <a:rPr lang="en-US" sz="4500" spc="50" dirty="0">
                <a:latin typeface="Arial MT"/>
                <a:cs typeface="Arial MT"/>
              </a:rPr>
              <a:t>and </a:t>
            </a:r>
            <a:r>
              <a:rPr lang="en-US" sz="4500" spc="50" dirty="0" err="1">
                <a:solidFill>
                  <a:srgbClr val="0000FF"/>
                </a:solidFill>
                <a:latin typeface="Arial MT"/>
                <a:cs typeface="Arial MT"/>
              </a:rPr>
              <a:t>na.exclude</a:t>
            </a:r>
            <a:r>
              <a:rPr lang="en-US" sz="4500" spc="50" dirty="0">
                <a:latin typeface="Arial MT"/>
                <a:cs typeface="Arial MT"/>
              </a:rPr>
              <a:t>: returns the object with observations removed if they contain any missing values; differences between omitting and excluding NAs can be seen in some prediction and residual functions</a:t>
            </a:r>
          </a:p>
          <a:p>
            <a:pPr marL="1382713" indent="-685800" algn="just">
              <a:lnSpc>
                <a:spcPct val="125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4500" spc="50" dirty="0" err="1" smtClean="0">
                <a:solidFill>
                  <a:srgbClr val="0000FF"/>
                </a:solidFill>
                <a:latin typeface="Arial MT"/>
                <a:cs typeface="Arial MT"/>
              </a:rPr>
              <a:t>na.pass</a:t>
            </a:r>
            <a:r>
              <a:rPr lang="en-US" sz="4500" spc="50" dirty="0">
                <a:latin typeface="Arial MT"/>
                <a:cs typeface="Arial MT"/>
              </a:rPr>
              <a:t>: returns the object unchanged</a:t>
            </a:r>
          </a:p>
          <a:p>
            <a:pPr marL="1382713" indent="-685800" algn="just">
              <a:lnSpc>
                <a:spcPct val="125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4500" spc="50" dirty="0" err="1" smtClean="0">
                <a:solidFill>
                  <a:srgbClr val="0000FF"/>
                </a:solidFill>
                <a:latin typeface="Arial MT"/>
                <a:cs typeface="Arial MT"/>
              </a:rPr>
              <a:t>na.fail</a:t>
            </a:r>
            <a:r>
              <a:rPr lang="en-US" sz="4500" spc="50" dirty="0">
                <a:latin typeface="Arial MT"/>
                <a:cs typeface="Arial MT"/>
              </a:rPr>
              <a:t>: returns the object only if it contains no missing </a:t>
            </a:r>
            <a:r>
              <a:rPr lang="en-US" sz="4500" spc="50" dirty="0" smtClean="0">
                <a:latin typeface="Arial MT"/>
                <a:cs typeface="Arial MT"/>
              </a:rPr>
              <a:t>values</a:t>
            </a:r>
            <a:endParaRPr lang="en-US" sz="4500" spc="5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7801912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2043</TotalTime>
  <Words>156</Words>
  <Application>Microsoft Office PowerPoint</Application>
  <PresentationFormat>Custom</PresentationFormat>
  <Paragraphs>23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Aharoni</vt:lpstr>
      <vt:lpstr>Arial</vt:lpstr>
      <vt:lpstr>Arial MT</vt:lpstr>
      <vt:lpstr>Calibri</vt:lpstr>
      <vt:lpstr>Microsoft Sans Serif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76</cp:revision>
  <dcterms:created xsi:type="dcterms:W3CDTF">2021-11-30T05:19:18Z</dcterms:created>
  <dcterms:modified xsi:type="dcterms:W3CDTF">2021-12-14T17:32:21Z</dcterms:modified>
</cp:coreProperties>
</file>